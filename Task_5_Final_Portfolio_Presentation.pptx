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CAPSTONE PORTFOLIO</a:t>
            </a:r>
          </a:p>
          <a:p>
            <a:pPr algn="ctr">
              <a:defRPr sz="3000"/>
            </a:pPr>
            <a:r>
              <a:t>Data Storytelling &amp; Statistical Validation</a:t>
            </a:r>
          </a:p>
          <a:p>
            <a:pPr algn="ctr">
              <a:defRPr sz="1800"/>
            </a:pPr>
            <a:r>
              <a:t>Sales Performance and Customer Value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Turn the earlier analysis into a business narrative and validate a key customer-value finding statistically.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Understand overall sales performance and the strongest revenue drivers.</a:t>
            </a:r>
          </a:p>
          <a:p>
            <a:pPr>
              <a:spcAft>
                <a:spcPts val="1200"/>
              </a:spcAft>
              <a:defRPr sz="1900"/>
            </a:pPr>
            <a:r>
              <a:t>Connect product, category, city, time, and customer-level findings.</a:t>
            </a:r>
          </a:p>
          <a:p>
            <a:pPr>
              <a:spcAft>
                <a:spcPts val="1200"/>
              </a:spcAft>
              <a:defRPr sz="1900"/>
            </a:pPr>
            <a:r>
              <a:t>Use customer segmentation to identify where revenue concentration matters.</a:t>
            </a:r>
          </a:p>
          <a:p>
            <a:pPr>
              <a:spcAft>
                <a:spcPts val="1200"/>
              </a:spcAft>
              <a:defRPr sz="1900"/>
            </a:pPr>
            <a:r>
              <a:t>Test whether High Value customers have significantly higher average order values than Low Value customers.</a:t>
            </a:r>
          </a:p>
          <a:p>
            <a:pPr>
              <a:spcAft>
                <a:spcPts val="1200"/>
              </a:spcAft>
              <a:defRPr sz="1900"/>
            </a:pPr>
            <a:r>
              <a:t>Translate the evidence into practical customer and sales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Business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148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₹139.40M</a:t>
            </a:r>
          </a:p>
          <a:p>
            <a:pPr algn="ctr">
              <a:defRPr sz="1200"/>
            </a:pPr>
            <a:r>
              <a:t>Total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280160"/>
            <a:ext cx="2148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992</a:t>
            </a:r>
          </a:p>
          <a:p>
            <a:pPr algn="ctr">
              <a:defRPr sz="1200"/>
            </a:pPr>
            <a:r>
              <a:t>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280160"/>
            <a:ext cx="2148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₹140,523.63</a:t>
            </a:r>
          </a:p>
          <a:p>
            <a:pPr algn="ctr">
              <a:defRPr sz="1200"/>
            </a:pPr>
            <a:r>
              <a:t>Overall AOV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280160"/>
            <a:ext cx="2148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5,435</a:t>
            </a:r>
          </a:p>
          <a:p>
            <a:pPr algn="ctr">
              <a:defRPr sz="1200"/>
            </a:pPr>
            <a:r>
              <a:t>Quantity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0"/>
            <a:ext cx="16002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947</a:t>
            </a:r>
          </a:p>
          <a:p>
            <a:pPr algn="ctr">
              <a:defRPr sz="1200"/>
            </a:pPr>
            <a: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dataset contains 1,000 orders, primarily covering 2025, with limited January 2026 data.</a:t>
            </a:r>
          </a:p>
          <a:p>
            <a:pPr>
              <a:spcAft>
                <a:spcPts val="1200"/>
              </a:spcAft>
              <a:defRPr sz="1800"/>
            </a:pPr>
            <a:r>
              <a:t>Revenue is strongest in Electronics; Laptop is the leading individual product.</a:t>
            </a:r>
          </a:p>
          <a:p>
            <a:pPr>
              <a:spcAft>
                <a:spcPts val="1200"/>
              </a:spcAft>
              <a:defRPr sz="1800"/>
            </a:pPr>
            <a:r>
              <a:t>Sales fluctuate across months rather than following a simple upward or downward trend.</a:t>
            </a:r>
          </a:p>
          <a:p>
            <a:pPr>
              <a:spcAft>
                <a:spcPts val="1200"/>
              </a:spcAft>
              <a:defRPr sz="1800"/>
            </a:pPr>
            <a:r>
              <a:t>Customer value is unevenly distributed, making customer-level analysis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Where Revenue Comes From</a:t>
            </a:r>
          </a:p>
        </p:txBody>
      </p:sp>
      <p:pic>
        <p:nvPicPr>
          <p:cNvPr id="3" name="Picture 2" descr="task4_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00800" cy="3676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4173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Electronics leads all five categories at ₹50.78M.</a:t>
            </a:r>
          </a:p>
          <a:p>
            <a:pPr>
              <a:spcAft>
                <a:spcPts val="1200"/>
              </a:spcAft>
              <a:defRPr sz="1700"/>
            </a:pPr>
            <a:r>
              <a:t>Laptop leads products at ₹25.44M; Mobile follows at ₹25.34M.</a:t>
            </a:r>
          </a:p>
          <a:p>
            <a:pPr>
              <a:spcAft>
                <a:spcPts val="1200"/>
              </a:spcAft>
              <a:defRPr sz="1700"/>
            </a:pPr>
            <a:r>
              <a:t>Patna is the highest-sales city at ₹19.29M.</a:t>
            </a:r>
          </a:p>
          <a:p>
            <a:pPr>
              <a:spcAft>
                <a:spcPts val="1200"/>
              </a:spcAft>
              <a:defRPr sz="1700"/>
            </a:pPr>
            <a:r>
              <a:t>Revenue is distributed across several cities rather than concentrated in one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Performance Over Time</a:t>
            </a:r>
          </a:p>
        </p:txBody>
      </p:sp>
      <p:pic>
        <p:nvPicPr>
          <p:cNvPr id="3" name="Picture 2" descr="task4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4201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41732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Monthly sales fluctuate throughout the period.</a:t>
            </a:r>
          </a:p>
          <a:p>
            <a:pPr>
              <a:spcAft>
                <a:spcPts val="1200"/>
              </a:spcAft>
              <a:defRPr sz="1700"/>
            </a:pPr>
            <a:r>
              <a:t>The pattern does not show a consistent upward or downward trend.</a:t>
            </a:r>
          </a:p>
          <a:p>
            <a:pPr>
              <a:spcAft>
                <a:spcPts val="1200"/>
              </a:spcAft>
              <a:defRPr sz="1700"/>
            </a:pPr>
            <a:r>
              <a:t>January 2026 is a partial period and should not be compared directly with full months of 2025.</a:t>
            </a:r>
          </a:p>
          <a:p>
            <a:pPr>
              <a:spcAft>
                <a:spcPts val="1200"/>
              </a:spcAft>
              <a:defRPr sz="1700"/>
            </a:pPr>
            <a:r>
              <a:t>Regular monitoring is therefore more useful than relying only on the overall sales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Segmentation: The Deep Dive</a:t>
            </a:r>
          </a:p>
        </p:txBody>
      </p:sp>
      <p:pic>
        <p:nvPicPr>
          <p:cNvPr id="3" name="Picture 2" descr="task4_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583680" cy="4321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Customers were grouped using the same Task 3 business rule.</a:t>
            </a:r>
          </a:p>
          <a:p>
            <a:pPr>
              <a:spcAft>
                <a:spcPts val="1200"/>
              </a:spcAft>
              <a:defRPr sz="1600"/>
            </a:pPr>
            <a:r>
              <a:t>High Value: customer sales at or above the 80th percentile (₹242,002.14).</a:t>
            </a:r>
          </a:p>
          <a:p>
            <a:pPr>
              <a:spcAft>
                <a:spcPts val="1200"/>
              </a:spcAft>
              <a:defRPr sz="1600"/>
            </a:pPr>
            <a:r>
              <a:t>Medium Value: between the 20th and 80th percentiles.</a:t>
            </a:r>
          </a:p>
          <a:p>
            <a:pPr>
              <a:spcAft>
                <a:spcPts val="1200"/>
              </a:spcAft>
              <a:defRPr sz="1600"/>
            </a:pPr>
            <a:r>
              <a:t>Low Value: customer sales at or below the 20th percentile (₹38,213.04).</a:t>
            </a:r>
          </a:p>
          <a:p>
            <a:pPr>
              <a:spcAft>
                <a:spcPts val="1200"/>
              </a:spcAft>
              <a:defRPr sz="1600"/>
            </a:pPr>
            <a:r>
              <a:t>Segment counts: 190 High, 567 Medium, 190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Key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Question: Do High Value customers generate significantly higher average order values than Low Value customers?</a:t>
            </a:r>
          </a:p>
          <a:p>
            <a:pPr>
              <a:spcAft>
                <a:spcPts val="1200"/>
              </a:spcAft>
              <a:defRPr sz="2000"/>
            </a:pPr>
            <a:r>
              <a:t>Null hypothesis (H₀): There is no significant difference in average order value between High Value and Low Value customers.</a:t>
            </a:r>
          </a:p>
          <a:p>
            <a:pPr>
              <a:spcAft>
                <a:spcPts val="1200"/>
              </a:spcAft>
              <a:defRPr sz="2000"/>
            </a:pPr>
            <a:r>
              <a:t>Alternative hypothesis (H₁): High Value customers have a significantly higher average order value than Low Value customers.</a:t>
            </a:r>
          </a:p>
          <a:p>
            <a:pPr>
              <a:spcAft>
                <a:spcPts val="1200"/>
              </a:spcAft>
              <a:defRPr sz="2000"/>
            </a:pPr>
            <a:r>
              <a:t>Unit of analysis: customer. Customer-level AOV = customer total sales ÷ customer order count.</a:t>
            </a:r>
          </a:p>
          <a:p>
            <a:pPr>
              <a:spcAft>
                <a:spcPts val="1200"/>
              </a:spcAft>
              <a:defRPr sz="2000"/>
            </a:pPr>
            <a:r>
              <a:t>Significance level: α = 0.05.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Statistical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Primary test: Welch's independent two-sample t-test.</a:t>
            </a:r>
          </a:p>
          <a:p>
            <a:pPr>
              <a:spcAft>
                <a:spcPts val="1200"/>
              </a:spcAft>
              <a:defRPr sz="1900"/>
            </a:pPr>
            <a:r>
              <a:t>Why: the comparison involves two independent customer groups and a continuous outcome (customer-level AOV), without assuming equal variances.</a:t>
            </a:r>
          </a:p>
          <a:p>
            <a:pPr>
              <a:spcAft>
                <a:spcPts val="1200"/>
              </a:spcAft>
              <a:defRPr sz="1900"/>
            </a:pPr>
            <a:r>
              <a:t>High Value sample: 190 customers.</a:t>
            </a:r>
          </a:p>
          <a:p>
            <a:pPr>
              <a:spcAft>
                <a:spcPts val="1200"/>
              </a:spcAft>
              <a:defRPr sz="1900"/>
            </a:pPr>
            <a:r>
              <a:t>Low Value sample: 190 customers.</a:t>
            </a:r>
          </a:p>
          <a:p>
            <a:pPr>
              <a:spcAft>
                <a:spcPts val="1200"/>
              </a:spcAft>
              <a:defRPr sz="1900"/>
            </a:pPr>
            <a:r>
              <a:t>Robustness check: Mann–Whitney U test was also performed.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Statistical Result</a:t>
            </a:r>
          </a:p>
        </p:txBody>
      </p:sp>
      <p:pic>
        <p:nvPicPr>
          <p:cNvPr id="3" name="Picture 2" descr="task4_aov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852160" cy="35112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20840" y="132588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₹314,483.88</a:t>
            </a:r>
          </a:p>
          <a:p>
            <a:pPr algn="ctr">
              <a:defRPr sz="1200"/>
            </a:pPr>
            <a:r>
              <a:t>High Value AOV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1325880"/>
            <a:ext cx="21488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₹18,742.07</a:t>
            </a:r>
          </a:p>
          <a:p>
            <a:pPr algn="ctr">
              <a:defRPr sz="1200"/>
            </a:pPr>
            <a:r>
              <a:t>Low Value AOV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88036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Welch t-statistic: 49.68</a:t>
            </a:r>
          </a:p>
          <a:p>
            <a:pPr>
              <a:spcAft>
                <a:spcPts val="1200"/>
              </a:spcAft>
              <a:defRPr sz="1600"/>
            </a:pPr>
            <a:r>
              <a:t>Welch degrees of freedom: 195.89</a:t>
            </a:r>
          </a:p>
          <a:p>
            <a:pPr>
              <a:spcAft>
                <a:spcPts val="1200"/>
              </a:spcAft>
              <a:defRPr sz="1600"/>
            </a:pPr>
            <a:r>
              <a:t>p-value: 5.706e-113</a:t>
            </a:r>
          </a:p>
          <a:p>
            <a:pPr>
              <a:spcAft>
                <a:spcPts val="1200"/>
              </a:spcAft>
              <a:defRPr sz="1600"/>
            </a:pPr>
            <a:r>
              <a:t>Mean difference: ₹295,741.81</a:t>
            </a:r>
          </a:p>
          <a:p>
            <a:pPr>
              <a:spcAft>
                <a:spcPts val="1200"/>
              </a:spcAft>
              <a:defRPr sz="1600"/>
            </a:pPr>
            <a:r>
              <a:t>95% CI for difference: ₹284,000.92 to ₹307,482.70</a:t>
            </a:r>
          </a:p>
          <a:p>
            <a:pPr>
              <a:spcAft>
                <a:spcPts val="1200"/>
              </a:spcAft>
              <a:defRPr sz="1600"/>
            </a:pPr>
            <a:r>
              <a:t>Cohen's d: 5.10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and 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Decision: Reject H₀ at α = 0.05.</a:t>
            </a:r>
          </a:p>
          <a:p>
            <a:pPr>
              <a:spcAft>
                <a:spcPts val="1200"/>
              </a:spcAft>
              <a:defRPr sz="1900"/>
            </a:pPr>
            <a:r>
              <a:t>High Value customer AOV is about 16.8× the Low Value customer AOV.</a:t>
            </a:r>
          </a:p>
          <a:p>
            <a:pPr>
              <a:spcAft>
                <a:spcPts val="1200"/>
              </a:spcAft>
              <a:defRPr sz="1900"/>
            </a:pPr>
            <a:r>
              <a:t>The estimated mean gap is ₹295,741.81, with the entire 95% confidence interval above zero.</a:t>
            </a:r>
          </a:p>
          <a:p>
            <a:pPr>
              <a:spcAft>
                <a:spcPts val="1200"/>
              </a:spcAft>
              <a:defRPr sz="1900"/>
            </a:pPr>
            <a:r>
              <a:t>The very small p-value provides strong statistical evidence that the two customer groups differ in average order value.</a:t>
            </a:r>
          </a:p>
          <a:p>
            <a:pPr>
              <a:spcAft>
                <a:spcPts val="1200"/>
              </a:spcAft>
              <a:defRPr sz="1900"/>
            </a:pPr>
            <a:r>
              <a:t>Robustness check: Mann–Whitney U test also found an extremely significant difference (p = 8.963e-64).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Business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Prioritise retention for High Value customers because they represent a high-value revenue source.</a:t>
            </a:r>
          </a:p>
          <a:p>
            <a:pPr>
              <a:spcAft>
                <a:spcPts val="1200"/>
              </a:spcAft>
              <a:defRPr sz="1800"/>
            </a:pPr>
            <a:r>
              <a:t>Develop Medium Value customers through personalised offers, product recommendations, and purchase-frequency initiatives.</a:t>
            </a:r>
          </a:p>
          <a:p>
            <a:pPr>
              <a:spcAft>
                <a:spcPts val="1200"/>
              </a:spcAft>
              <a:defRPr sz="1800"/>
            </a:pPr>
            <a:r>
              <a:t>Evaluate Low Value customers selectively for conversion potential while avoiding inefficient broad spending.</a:t>
            </a:r>
          </a:p>
          <a:p>
            <a:pPr>
              <a:spcAft>
                <a:spcPts val="1200"/>
              </a:spcAft>
              <a:defRPr sz="1800"/>
            </a:pPr>
            <a:r>
              <a:t>Continue focusing on Electronics and leading products such as Laptop and Mobile.</a:t>
            </a:r>
          </a:p>
          <a:p>
            <a:pPr>
              <a:spcAft>
                <a:spcPts val="1200"/>
              </a:spcAft>
              <a:defRPr sz="1800"/>
            </a:pPr>
            <a:r>
              <a:t>Use the Power BI dashboard to monitor segment, product, city, gender, and time-based performance regularly.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and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analysis moves from overall sales performance to customer-level value and then validates the key customer-value difference statistically.</a:t>
            </a:r>
          </a:p>
          <a:p>
            <a:pPr>
              <a:spcAft>
                <a:spcPts val="1200"/>
              </a:spcAft>
              <a:defRPr sz="1900"/>
            </a:pPr>
            <a:r>
              <a:t>Electronics and leading products are important revenue drivers, while sales performance varies across time and geography.</a:t>
            </a:r>
          </a:p>
          <a:p>
            <a:pPr>
              <a:spcAft>
                <a:spcPts val="1200"/>
              </a:spcAft>
              <a:defRPr sz="1900"/>
            </a:pPr>
            <a:r>
              <a:t>The hypothesis test strongly supports the conclusion that High Value customers have higher customer-level AOV than Low Value customers.</a:t>
            </a:r>
          </a:p>
          <a:p>
            <a:pPr>
              <a:spcAft>
                <a:spcPts val="1200"/>
              </a:spcAft>
              <a:defRPr sz="1900"/>
            </a:pPr>
            <a:r>
              <a:t>Call to action: protect high-value relationships, develop medium-value customers, selectively activate low-value customers, and monitor the results through the interactive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