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85800" y="914400"/>
            <a:ext cx="109728" cy="4480560"/>
          </a:xfrm>
          <a:prstGeom prst="rect">
            <a:avLst/>
          </a:prstGeom>
          <a:solidFill>
            <a:srgbClr val="289B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960120"/>
            <a:ext cx="987552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A0CDDC"/>
                </a:solidFill>
                <a:latin typeface="Aptos"/>
              </a:defRPr>
            </a:pPr>
            <a:r>
              <a:t>APEXPLANET DATA ANALYST INTERNSHIP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987552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8FAFC"/>
                </a:solidFill>
                <a:latin typeface="Aptos Display"/>
              </a:defRPr>
            </a:pPr>
            <a:r>
              <a:t>Portfolio</a:t>
            </a:r>
            <a:br/>
            <a:r>
              <a:t>Capstone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" y="342900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D2DCE8"/>
                </a:solidFill>
                <a:latin typeface="Aptos"/>
              </a:defRPr>
            </a:pPr>
            <a:r>
              <a:t>From raw sales data to validated business insight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" y="516636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AFBCCD"/>
                </a:solidFill>
                <a:latin typeface="Aptos"/>
              </a:defRPr>
            </a:pPr>
            <a:r>
              <a:t>Avinash Narayan  |  Tasks 1–5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114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1E30"/>
                </a:solidFill>
                <a:latin typeface="Aptos Display"/>
              </a:defRPr>
            </a:pPr>
            <a:r>
              <a:t>The Internship Journey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47548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97688"/>
                </a:solidFill>
                <a:latin typeface="Aptos"/>
              </a:defRPr>
            </a:pPr>
            <a:r>
              <a:t>OVERVIEW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508760"/>
            <a:ext cx="502920" cy="502920"/>
          </a:xfrm>
          <a:prstGeom prst="ellipse">
            <a:avLst/>
          </a:prstGeom>
          <a:solidFill>
            <a:srgbClr val="2D6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8191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8FAFC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90472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41E30"/>
                </a:solidFill>
                <a:latin typeface="Aptos Display"/>
              </a:defRPr>
            </a:pPr>
            <a:r>
              <a:t>Data Wrangling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20240"/>
            <a:ext cx="2057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B37"/>
                </a:solidFill>
                <a:latin typeface="Aptos"/>
              </a:defRPr>
            </a:pPr>
            <a:r>
              <a:t>Clean, validate and prepare the sales dataset for analysis.</a:t>
            </a:r>
          </a:p>
        </p:txBody>
      </p:sp>
      <p:sp>
        <p:nvSpPr>
          <p:cNvPr id="10" name="Oval 9"/>
          <p:cNvSpPr/>
          <p:nvPr/>
        </p:nvSpPr>
        <p:spPr>
          <a:xfrm>
            <a:off x="3246120" y="1508760"/>
            <a:ext cx="502920" cy="502920"/>
          </a:xfrm>
          <a:prstGeom prst="ellipse">
            <a:avLst/>
          </a:prstGeom>
          <a:solidFill>
            <a:srgbClr val="2D6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158191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8FAFC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886200" y="1490472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41E30"/>
                </a:solidFill>
                <a:latin typeface="Aptos Display"/>
              </a:defRPr>
            </a:pPr>
            <a:r>
              <a:t>EDA + SQL + Excel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1920240"/>
            <a:ext cx="2057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B37"/>
                </a:solidFill>
                <a:latin typeface="Aptos"/>
              </a:defRPr>
            </a:pPr>
            <a:r>
              <a:t>Explore sales patterns, answer business questions and build a static BI view.</a:t>
            </a:r>
          </a:p>
        </p:txBody>
      </p:sp>
      <p:sp>
        <p:nvSpPr>
          <p:cNvPr id="14" name="Oval 13"/>
          <p:cNvSpPr/>
          <p:nvPr/>
        </p:nvSpPr>
        <p:spPr>
          <a:xfrm>
            <a:off x="5760720" y="1508760"/>
            <a:ext cx="502920" cy="502920"/>
          </a:xfrm>
          <a:prstGeom prst="ellipse">
            <a:avLst/>
          </a:prstGeom>
          <a:solidFill>
            <a:srgbClr val="2D6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60720" y="158191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8FAFC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490472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41E30"/>
                </a:solidFill>
                <a:latin typeface="Aptos Display"/>
              </a:defRPr>
            </a:pPr>
            <a:r>
              <a:t>Power BI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1920240"/>
            <a:ext cx="2057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B37"/>
                </a:solidFill>
                <a:latin typeface="Aptos"/>
              </a:defRPr>
            </a:pPr>
            <a:r>
              <a:t>Build an interactive dashboard and customer segmentation deep-dive.</a:t>
            </a:r>
          </a:p>
        </p:txBody>
      </p:sp>
      <p:sp>
        <p:nvSpPr>
          <p:cNvPr id="18" name="Oval 17"/>
          <p:cNvSpPr/>
          <p:nvPr/>
        </p:nvSpPr>
        <p:spPr>
          <a:xfrm>
            <a:off x="8275320" y="1508760"/>
            <a:ext cx="502920" cy="502920"/>
          </a:xfrm>
          <a:prstGeom prst="ellipse">
            <a:avLst/>
          </a:prstGeom>
          <a:solidFill>
            <a:srgbClr val="2D6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1581912"/>
            <a:ext cx="502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8FAFC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15400" y="1490472"/>
            <a:ext cx="210312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141E30"/>
                </a:solidFill>
                <a:latin typeface="Aptos Display"/>
              </a:defRPr>
            </a:pPr>
            <a:r>
              <a:t>Statistics + Storytelling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1920240"/>
            <a:ext cx="2057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B37"/>
                </a:solidFill>
                <a:latin typeface="Aptos"/>
              </a:defRPr>
            </a:pPr>
            <a:r>
              <a:t>Test a business hypothesis and translate evidence into actions.</a:t>
            </a:r>
          </a:p>
        </p:txBody>
      </p:sp>
      <p:sp>
        <p:nvSpPr>
          <p:cNvPr id="22" name="Chevron 21"/>
          <p:cNvSpPr/>
          <p:nvPr/>
        </p:nvSpPr>
        <p:spPr>
          <a:xfrm>
            <a:off x="2926080" y="1691640"/>
            <a:ext cx="347472" cy="320040"/>
          </a:xfrm>
          <a:prstGeom prst="chevron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Chevron 22"/>
          <p:cNvSpPr/>
          <p:nvPr/>
        </p:nvSpPr>
        <p:spPr>
          <a:xfrm>
            <a:off x="5440680" y="1691640"/>
            <a:ext cx="347472" cy="320040"/>
          </a:xfrm>
          <a:prstGeom prst="chevron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evron 23"/>
          <p:cNvSpPr/>
          <p:nvPr/>
        </p:nvSpPr>
        <p:spPr>
          <a:xfrm>
            <a:off x="7955279" y="1691640"/>
            <a:ext cx="347472" cy="320040"/>
          </a:xfrm>
          <a:prstGeom prst="chevron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731520" y="3794760"/>
            <a:ext cx="324612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8E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31520" y="3794760"/>
            <a:ext cx="73152" cy="1508760"/>
          </a:xfrm>
          <a:prstGeom prst="rect">
            <a:avLst/>
          </a:prstGeom>
          <a:solidFill>
            <a:srgbClr val="2D6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" y="3959352"/>
            <a:ext cx="2926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97688"/>
                </a:solidFill>
                <a:latin typeface="Aptos"/>
              </a:defRPr>
            </a:pPr>
            <a:r>
              <a:t>Dataset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" y="4325112"/>
            <a:ext cx="29260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41E30"/>
                </a:solidFill>
                <a:latin typeface="Aptos Display"/>
              </a:defRPr>
            </a:pPr>
            <a:r>
              <a:t>1,000 records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" y="4864608"/>
            <a:ext cx="292607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7688"/>
                </a:solidFill>
                <a:latin typeface="Aptos"/>
              </a:defRPr>
            </a:pPr>
            <a:r>
              <a:t>Sales order data across 2025 + partial Jan 2026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206240" y="3794760"/>
            <a:ext cx="324612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8E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06240" y="3794760"/>
            <a:ext cx="73152" cy="1508760"/>
          </a:xfrm>
          <a:prstGeom prst="rect">
            <a:avLst/>
          </a:prstGeom>
          <a:solidFill>
            <a:srgbClr val="289B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07407" y="3959352"/>
            <a:ext cx="2926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97688"/>
                </a:solidFill>
                <a:latin typeface="Aptos"/>
              </a:defRPr>
            </a:pPr>
            <a:r>
              <a:t>Core outcome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07407" y="4325112"/>
            <a:ext cx="29260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41E30"/>
                </a:solidFill>
                <a:latin typeface="Aptos Display"/>
              </a:defRPr>
            </a:pPr>
            <a:r>
              <a:t>₹139.40M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07407" y="4864608"/>
            <a:ext cx="292607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7688"/>
                </a:solidFill>
                <a:latin typeface="Aptos"/>
              </a:defRPr>
            </a:pPr>
            <a:r>
              <a:t>Total sales in the cleaned dataset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680960" y="3794760"/>
            <a:ext cx="3246120" cy="1508760"/>
          </a:xfrm>
          <a:prstGeom prst="roundRect">
            <a:avLst/>
          </a:prstGeom>
          <a:solidFill>
            <a:srgbClr val="FFFFFF"/>
          </a:solidFill>
          <a:ln>
            <a:solidFill>
              <a:srgbClr val="E8E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680960" y="3794760"/>
            <a:ext cx="73152" cy="1508760"/>
          </a:xfrm>
          <a:prstGeom prst="rect">
            <a:avLst/>
          </a:prstGeom>
          <a:solidFill>
            <a:srgbClr val="2D8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882128" y="3959352"/>
            <a:ext cx="2926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97688"/>
                </a:solidFill>
                <a:latin typeface="Aptos"/>
              </a:defRPr>
            </a:pPr>
            <a:r>
              <a:t>Portfolio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882128" y="4325112"/>
            <a:ext cx="29260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41E30"/>
                </a:solidFill>
                <a:latin typeface="Aptos Display"/>
              </a:defRPr>
            </a:pPr>
            <a:r>
              <a:t>Tasks 1–5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82128" y="4864608"/>
            <a:ext cx="292607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7688"/>
                </a:solidFill>
                <a:latin typeface="Aptos"/>
              </a:defRPr>
            </a:pPr>
            <a:r>
              <a:t>One end-to-end analytics workflow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4360" y="6528816"/>
            <a:ext cx="10241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7688"/>
                </a:solidFill>
                <a:latin typeface="Aptos"/>
              </a:defRPr>
            </a:pPr>
            <a:r>
              <a:t>ApexPlanet Data Analyst Internship Portfolio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881360" y="6501384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97688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144768"/>
            <a:ext cx="10698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7688"/>
                </a:solidFill>
                <a:latin typeface="Aptos"/>
              </a:defRPr>
            </a:pPr>
            <a:r>
              <a:t>Data note: 1,000 transaction records; 992 unique Order IDs. The internship dashboard convention used the 1,000-row count as Total Orders.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114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1E30"/>
                </a:solidFill>
                <a:latin typeface="Aptos Display"/>
              </a:defRPr>
            </a:pPr>
            <a:r>
              <a:t>Task 1 — Data Immersion &amp; Wrangling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47548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97688"/>
                </a:solidFill>
                <a:latin typeface="Aptos"/>
              </a:defRPr>
            </a:pPr>
            <a:r>
              <a:t>TASK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B37"/>
                </a:solidFill>
                <a:latin typeface="Aptos"/>
              </a:defRPr>
            </a:pPr>
            <a:r>
              <a:t>• Inspected the raw sales-order dataset and checked data quality.</a:t>
            </a:r>
          </a:p>
          <a:p>
            <a:pPr>
              <a:spcAft>
                <a:spcPts val="800"/>
              </a:spcAft>
              <a:defRPr sz="1700">
                <a:solidFill>
                  <a:srgbClr val="232B37"/>
                </a:solidFill>
                <a:latin typeface="Aptos"/>
              </a:defRPr>
            </a:pPr>
            <a:r>
              <a:t>• Handled missing values and inconsistent entries; missing City values were standardised as “Unknown”.</a:t>
            </a:r>
          </a:p>
          <a:p>
            <a:pPr>
              <a:spcAft>
                <a:spcPts val="800"/>
              </a:spcAft>
              <a:defRPr sz="1700">
                <a:solidFill>
                  <a:srgbClr val="232B37"/>
                </a:solidFill>
                <a:latin typeface="Aptos"/>
              </a:defRPr>
            </a:pPr>
            <a:r>
              <a:t>• Converted Order_Date into a proper date field and classified numeric, categorical and identifier fields.</a:t>
            </a:r>
          </a:p>
          <a:p>
            <a:pPr>
              <a:spcAft>
                <a:spcPts val="800"/>
              </a:spcAft>
              <a:defRPr sz="1700">
                <a:solidFill>
                  <a:srgbClr val="232B37"/>
                </a:solidFill>
                <a:latin typeface="Aptos"/>
              </a:defRPr>
            </a:pPr>
            <a:r>
              <a:t>• Prepared a clean, analysis-ready dataset for the downstream SQL, Excel and Power BI work.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141732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8E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35240" y="1417320"/>
            <a:ext cx="73152" cy="1325880"/>
          </a:xfrm>
          <a:prstGeom prst="rect">
            <a:avLst/>
          </a:prstGeom>
          <a:solidFill>
            <a:srgbClr val="2D6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836408" y="1581912"/>
            <a:ext cx="2926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97688"/>
                </a:solidFill>
                <a:latin typeface="Aptos"/>
              </a:defRPr>
            </a:pPr>
            <a:r>
              <a:t>Rows retained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36408" y="1947672"/>
            <a:ext cx="29260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1E30"/>
                </a:solidFill>
                <a:latin typeface="Aptos Display"/>
              </a:defRPr>
            </a:pPr>
            <a:r>
              <a:t>1,000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36408" y="2487168"/>
            <a:ext cx="292607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7688"/>
                </a:solidFill>
                <a:latin typeface="Aptos"/>
              </a:defRPr>
            </a:pPr>
            <a:r>
              <a:t>No row loss during cleaning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35240" y="292608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8E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635240" y="2926080"/>
            <a:ext cx="73152" cy="1325880"/>
          </a:xfrm>
          <a:prstGeom prst="rect">
            <a:avLst/>
          </a:prstGeom>
          <a:solidFill>
            <a:srgbClr val="289B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36408" y="3090672"/>
            <a:ext cx="2926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97688"/>
                </a:solidFill>
                <a:latin typeface="Aptos"/>
              </a:defRPr>
            </a:pPr>
            <a:r>
              <a:t>Missing 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36408" y="3456432"/>
            <a:ext cx="29260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1E30"/>
                </a:solidFill>
                <a:latin typeface="Aptos Display"/>
              </a:defRPr>
            </a:pPr>
            <a:r>
              <a:t>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36408" y="3995928"/>
            <a:ext cx="292607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7688"/>
                </a:solidFill>
                <a:latin typeface="Aptos"/>
              </a:defRPr>
            </a:pPr>
            <a:r>
              <a:t>Handled during preparation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35240" y="44348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E8E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35240" y="4434840"/>
            <a:ext cx="73152" cy="1325880"/>
          </a:xfrm>
          <a:prstGeom prst="rect">
            <a:avLst/>
          </a:prstGeom>
          <a:solidFill>
            <a:srgbClr val="2D8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836408" y="4599431"/>
            <a:ext cx="2926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97688"/>
                </a:solidFill>
                <a:latin typeface="Aptos"/>
              </a:defRPr>
            </a:pPr>
            <a:r>
              <a:t>Missing 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36408" y="4965192"/>
            <a:ext cx="29260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1E30"/>
                </a:solidFill>
                <a:latin typeface="Aptos Display"/>
              </a:defRPr>
            </a:pPr>
            <a: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36408" y="5504688"/>
            <a:ext cx="292607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7688"/>
                </a:solidFill>
                <a:latin typeface="Aptos"/>
              </a:defRPr>
            </a:pPr>
            <a:r>
              <a:t>Standardised to Unknown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6528816"/>
            <a:ext cx="10241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7688"/>
                </a:solidFill>
                <a:latin typeface="Aptos"/>
              </a:defRPr>
            </a:pPr>
            <a:r>
              <a:t>ApexPlanet Data Analyst Internship Portfolio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0" y="6501384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97688"/>
                </a:solidFill>
                <a:latin typeface="Aptos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114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1E30"/>
                </a:solidFill>
                <a:latin typeface="Aptos Display"/>
              </a:defRPr>
            </a:pPr>
            <a:r>
              <a:t>Task 2 — EDA, SQL &amp; Excel Business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47548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97688"/>
                </a:solidFill>
                <a:latin typeface="Aptos"/>
              </a:defRPr>
            </a:pPr>
            <a:r>
              <a:t>TASK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2461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8E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325880"/>
            <a:ext cx="73152" cy="1417320"/>
          </a:xfrm>
          <a:prstGeom prst="rect">
            <a:avLst/>
          </a:prstGeom>
          <a:solidFill>
            <a:srgbClr val="2D6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2926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97688"/>
                </a:solidFill>
                <a:latin typeface="Aptos"/>
              </a:defRPr>
            </a:pPr>
            <a:r>
              <a:t>Total Sales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1856231"/>
            <a:ext cx="29260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41E30"/>
                </a:solidFill>
                <a:latin typeface="Aptos Display"/>
              </a:defRPr>
            </a:pPr>
            <a:r>
              <a:t>₹139.40M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292607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7688"/>
                </a:solidFill>
                <a:latin typeface="Aptos"/>
              </a:defRPr>
            </a:pPr>
            <a:r>
              <a:t>Overall sales value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06240" y="1325880"/>
            <a:ext cx="32461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8E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06240" y="1325880"/>
            <a:ext cx="73152" cy="1417320"/>
          </a:xfrm>
          <a:prstGeom prst="rect">
            <a:avLst/>
          </a:prstGeom>
          <a:solidFill>
            <a:srgbClr val="289B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07407" y="1490472"/>
            <a:ext cx="2926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97688"/>
                </a:solidFill>
                <a:latin typeface="Aptos"/>
              </a:defRPr>
            </a:pPr>
            <a:r>
              <a:t>Recorded Transactions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07407" y="1856231"/>
            <a:ext cx="29260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700" b="1">
                <a:solidFill>
                  <a:srgbClr val="141E30"/>
                </a:solidFill>
                <a:latin typeface="Aptos Display"/>
              </a:defRPr>
            </a:pPr>
            <a:r>
              <a:t>1,000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07407" y="2395728"/>
            <a:ext cx="292607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7688"/>
                </a:solidFill>
                <a:latin typeface="Aptos"/>
              </a:defRPr>
            </a:pPr>
            <a:r>
              <a:t>Transaction count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80960" y="1325880"/>
            <a:ext cx="324612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8E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680960" y="1325880"/>
            <a:ext cx="73152" cy="1417320"/>
          </a:xfrm>
          <a:prstGeom prst="rect">
            <a:avLst/>
          </a:prstGeom>
          <a:solidFill>
            <a:srgbClr val="2D8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82128" y="1490472"/>
            <a:ext cx="292607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97688"/>
                </a:solidFill>
                <a:latin typeface="Aptos"/>
              </a:defRPr>
            </a:pPr>
            <a:r>
              <a:t>Average Order Value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82128" y="1856231"/>
            <a:ext cx="2926079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1E30"/>
                </a:solidFill>
                <a:latin typeface="Aptos Display"/>
              </a:defRPr>
            </a:pPr>
            <a:r>
              <a:t>₹139,399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2128" y="2395728"/>
            <a:ext cx="2926079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7688"/>
                </a:solidFill>
                <a:latin typeface="Aptos"/>
              </a:defRPr>
            </a:pPr>
            <a:r>
              <a:t>Sales ÷ orders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154680"/>
            <a:ext cx="53949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B37"/>
                </a:solidFill>
                <a:latin typeface="Aptos"/>
              </a:defRPr>
            </a:pPr>
            <a:r>
              <a:t>• Used exploratory analysis to understand products, categories, cities, customers, gender and time.</a:t>
            </a:r>
          </a:p>
          <a:p>
            <a:pPr>
              <a:spcAft>
                <a:spcPts val="800"/>
              </a:spcAft>
              <a:defRPr sz="1600">
                <a:solidFill>
                  <a:srgbClr val="232B37"/>
                </a:solidFill>
                <a:latin typeface="Aptos"/>
              </a:defRPr>
            </a:pPr>
            <a:r>
              <a:t>• Used MySQL to answer business questions and validate sales patterns.</a:t>
            </a:r>
          </a:p>
          <a:p>
            <a:pPr>
              <a:spcAft>
                <a:spcPts val="800"/>
              </a:spcAft>
              <a:defRPr sz="1600">
                <a:solidFill>
                  <a:srgbClr val="232B37"/>
                </a:solidFill>
                <a:latin typeface="Aptos"/>
              </a:defRPr>
            </a:pPr>
            <a:r>
              <a:t>• Built a static Excel dashboard bringing the main KPIs and visual findings together.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3063240"/>
            <a:ext cx="4572000" cy="256032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720840" y="3310128"/>
            <a:ext cx="393192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232B37"/>
                </a:solidFill>
                <a:latin typeface="Aptos"/>
              </a:defRPr>
            </a:pPr>
            <a:r>
              <a:t>• Top category: Electronics — ₹50.78M</a:t>
            </a:r>
          </a:p>
          <a:p>
            <a:pPr>
              <a:spcAft>
                <a:spcPts val="900"/>
              </a:spcAft>
              <a:defRPr sz="1400">
                <a:solidFill>
                  <a:srgbClr val="232B37"/>
                </a:solidFill>
                <a:latin typeface="Aptos"/>
              </a:defRPr>
            </a:pPr>
            <a:r>
              <a:t>• Top product: Laptop — ₹25.44M</a:t>
            </a:r>
          </a:p>
          <a:p>
            <a:pPr>
              <a:spcAft>
                <a:spcPts val="900"/>
              </a:spcAft>
              <a:defRPr sz="1400">
                <a:solidFill>
                  <a:srgbClr val="232B37"/>
                </a:solidFill>
                <a:latin typeface="Aptos"/>
              </a:defRPr>
            </a:pPr>
            <a:r>
              <a:t>• Top city: Patna — ₹19.29M</a:t>
            </a:r>
          </a:p>
          <a:p>
            <a:pPr>
              <a:spcAft>
                <a:spcPts val="900"/>
              </a:spcAft>
              <a:defRPr sz="1400">
                <a:solidFill>
                  <a:srgbClr val="232B37"/>
                </a:solidFill>
                <a:latin typeface="Aptos"/>
              </a:defRPr>
            </a:pPr>
            <a:r>
              <a:t>• Male sales: ₹72.46M | Female: ₹66.94M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4360" y="6528816"/>
            <a:ext cx="10241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7688"/>
                </a:solidFill>
                <a:latin typeface="Aptos"/>
              </a:defRPr>
            </a:pPr>
            <a:r>
              <a:t>ApexPlanet Data Analyst Internship Portfolio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501384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97688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5800" y="6144768"/>
            <a:ext cx="10698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7688"/>
                </a:solidFill>
                <a:latin typeface="Aptos"/>
              </a:defRPr>
            </a:pPr>
            <a:r>
              <a:t>Metric note: ₹139,399.44 is sales ÷ 1,000 recorded transaction rows; the cleaned file contains 992 unique Order IDs.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114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1E30"/>
                </a:solidFill>
                <a:latin typeface="Aptos Display"/>
              </a:defRPr>
            </a:pPr>
            <a:r>
              <a:t>Task 2 — What the EDA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47548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97688"/>
                </a:solidFill>
                <a:latin typeface="Aptos"/>
              </a:defRPr>
            </a:pPr>
            <a:r>
              <a:t>TASK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09728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41E30"/>
                </a:solidFill>
                <a:latin typeface="Aptos Display"/>
              </a:defRPr>
            </a:pPr>
            <a:r>
              <a:t>Sales by Category (₹M)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41732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B37"/>
                </a:solidFill>
                <a:latin typeface="Aptos"/>
              </a:defRPr>
            </a:pPr>
            <a:r>
              <a:t>Electronics</a:t>
            </a:r>
          </a:p>
        </p:txBody>
      </p:sp>
      <p:sp>
        <p:nvSpPr>
          <p:cNvPr id="8" name="Rectangle 7"/>
          <p:cNvSpPr/>
          <p:nvPr/>
        </p:nvSpPr>
        <p:spPr>
          <a:xfrm>
            <a:off x="2057400" y="1444752"/>
            <a:ext cx="3108960" cy="201168"/>
          </a:xfrm>
          <a:prstGeom prst="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57400" y="1444752"/>
            <a:ext cx="3108959" cy="201168"/>
          </a:xfrm>
          <a:prstGeom prst="rect">
            <a:avLst/>
          </a:prstGeom>
          <a:solidFill>
            <a:srgbClr val="2D6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1399032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41E30"/>
                </a:solidFill>
                <a:latin typeface="Aptos"/>
              </a:defRPr>
            </a:pPr>
            <a:r>
              <a:t>50.78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075688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B37"/>
                </a:solidFill>
                <a:latin typeface="Aptos"/>
              </a:defRPr>
            </a:pPr>
            <a:r>
              <a:t>Education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57400" y="2103120"/>
            <a:ext cx="3108960" cy="201168"/>
          </a:xfrm>
          <a:prstGeom prst="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57400" y="2103120"/>
            <a:ext cx="1532439" cy="201168"/>
          </a:xfrm>
          <a:prstGeom prst="rect">
            <a:avLst/>
          </a:prstGeom>
          <a:solidFill>
            <a:srgbClr val="289B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0" y="2057400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41E30"/>
                </a:solidFill>
                <a:latin typeface="Aptos"/>
              </a:defRPr>
            </a:pPr>
            <a:r>
              <a:t>25.03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734056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B37"/>
                </a:solidFill>
                <a:latin typeface="Aptos"/>
              </a:defRPr>
            </a:pPr>
            <a:r>
              <a:t>Grocery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57400" y="2761488"/>
            <a:ext cx="3108960" cy="201168"/>
          </a:xfrm>
          <a:prstGeom prst="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761488"/>
            <a:ext cx="1361011" cy="201168"/>
          </a:xfrm>
          <a:prstGeom prst="rect">
            <a:avLst/>
          </a:prstGeom>
          <a:solidFill>
            <a:srgbClr val="2D8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0" y="2715768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41E30"/>
                </a:solidFill>
                <a:latin typeface="Aptos"/>
              </a:defRPr>
            </a:pPr>
            <a:r>
              <a:t>22.23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392424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B37"/>
                </a:solidFill>
                <a:latin typeface="Aptos"/>
              </a:defRPr>
            </a:pPr>
            <a:r>
              <a:t>Furniture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57400" y="3419856"/>
            <a:ext cx="3108960" cy="201168"/>
          </a:xfrm>
          <a:prstGeom prst="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057400" y="3419856"/>
            <a:ext cx="1317542" cy="201168"/>
          </a:xfrm>
          <a:prstGeom prst="rect">
            <a:avLst/>
          </a:prstGeom>
          <a:solidFill>
            <a:srgbClr val="D782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0" y="3374136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41E30"/>
                </a:solidFill>
                <a:latin typeface="Aptos"/>
              </a:defRPr>
            </a:pPr>
            <a:r>
              <a:t>21.52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4050791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B37"/>
                </a:solidFill>
                <a:latin typeface="Aptos"/>
              </a:defRPr>
            </a:pPr>
            <a:r>
              <a:t>Fashion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57400" y="4078224"/>
            <a:ext cx="3108960" cy="201168"/>
          </a:xfrm>
          <a:prstGeom prst="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057400" y="4078224"/>
            <a:ext cx="1214686" cy="201168"/>
          </a:xfrm>
          <a:prstGeom prst="rect">
            <a:avLst/>
          </a:prstGeom>
          <a:solidFill>
            <a:srgbClr val="697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0" y="4032504"/>
            <a:ext cx="8229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41E30"/>
                </a:solidFill>
                <a:latin typeface="Aptos"/>
              </a:defRPr>
            </a:pPr>
            <a:r>
              <a:t>19.84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417320"/>
            <a:ext cx="46634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B37"/>
                </a:solidFill>
                <a:latin typeface="Aptos"/>
              </a:defRPr>
            </a:pPr>
            <a:r>
              <a:t>• Electronics was the strongest revenue category.</a:t>
            </a:r>
          </a:p>
          <a:p>
            <a:pPr>
              <a:spcAft>
                <a:spcPts val="800"/>
              </a:spcAft>
              <a:defRPr sz="1600">
                <a:solidFill>
                  <a:srgbClr val="232B37"/>
                </a:solidFill>
                <a:latin typeface="Aptos"/>
              </a:defRPr>
            </a:pPr>
            <a:r>
              <a:t>• Laptop was the leading product, followed closely by Mobile and Book.</a:t>
            </a:r>
          </a:p>
          <a:p>
            <a:pPr>
              <a:spcAft>
                <a:spcPts val="800"/>
              </a:spcAft>
              <a:defRPr sz="1600">
                <a:solidFill>
                  <a:srgbClr val="232B37"/>
                </a:solidFill>
                <a:latin typeface="Aptos"/>
              </a:defRPr>
            </a:pPr>
            <a:r>
              <a:t>• Sales fluctuated across the period; January 2026 is a partial month and should not be compared directly with full 2025 months.</a:t>
            </a:r>
          </a:p>
          <a:p>
            <a:pPr>
              <a:spcAft>
                <a:spcPts val="800"/>
              </a:spcAft>
              <a:defRPr sz="1600">
                <a:solidFill>
                  <a:srgbClr val="232B37"/>
                </a:solidFill>
                <a:latin typeface="Aptos"/>
              </a:defRPr>
            </a:pPr>
            <a:r>
              <a:t>• These findings became the foundation for the deeper customer analysis in Task 3.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6528816"/>
            <a:ext cx="10241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7688"/>
                </a:solidFill>
                <a:latin typeface="Aptos"/>
              </a:defRPr>
            </a:pPr>
            <a:r>
              <a:t>ApexPlanet Data Analyst Internship Portfolio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6501384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97688"/>
                </a:solidFill>
                <a:latin typeface="Aptos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114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1E30"/>
                </a:solidFill>
                <a:latin typeface="Aptos Display"/>
              </a:defRPr>
            </a:pPr>
            <a:r>
              <a:t>Task 3 — Interactive Power BI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47548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97688"/>
                </a:solidFill>
                <a:latin typeface="Aptos"/>
              </a:defRPr>
            </a:pPr>
            <a:r>
              <a:t>TASK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234440"/>
            <a:ext cx="2057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8E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85800" y="1234440"/>
            <a:ext cx="73152" cy="1234440"/>
          </a:xfrm>
          <a:prstGeom prst="rect">
            <a:avLst/>
          </a:prstGeom>
          <a:solidFill>
            <a:srgbClr val="2D6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1399032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97688"/>
                </a:solidFill>
                <a:latin typeface="Aptos"/>
              </a:defRPr>
            </a:pPr>
            <a:r>
              <a:t>KPI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176479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1E30"/>
                </a:solidFill>
                <a:latin typeface="Aptos Display"/>
              </a:defRPr>
            </a:pPr>
            <a:r>
              <a:t>₹139.40M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" y="2304288"/>
            <a:ext cx="1737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7688"/>
                </a:solidFill>
                <a:latin typeface="Aptos"/>
              </a:defRPr>
            </a:pPr>
            <a:r>
              <a:t>Total Sales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80360" y="1234440"/>
            <a:ext cx="2057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8E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880360" y="1234440"/>
            <a:ext cx="73152" cy="1234440"/>
          </a:xfrm>
          <a:prstGeom prst="rect">
            <a:avLst/>
          </a:prstGeom>
          <a:solidFill>
            <a:srgbClr val="289B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81528" y="1399032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97688"/>
                </a:solidFill>
                <a:latin typeface="Aptos"/>
              </a:defRPr>
            </a:pPr>
            <a:r>
              <a:t>KPI 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81528" y="176479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1E30"/>
                </a:solidFill>
                <a:latin typeface="Aptos Display"/>
              </a:defRPr>
            </a:pPr>
            <a:r>
              <a:t>1,000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304288"/>
            <a:ext cx="1737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97688"/>
                </a:solidFill>
                <a:latin typeface="Aptos"/>
              </a:defRPr>
            </a:pPr>
            <a:r>
              <a:t>Recorded Transactions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74920" y="1234440"/>
            <a:ext cx="2057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8E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74920" y="1234440"/>
            <a:ext cx="73152" cy="1234440"/>
          </a:xfrm>
          <a:prstGeom prst="rect">
            <a:avLst/>
          </a:prstGeom>
          <a:solidFill>
            <a:srgbClr val="2D8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76088" y="1399032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97688"/>
                </a:solidFill>
                <a:latin typeface="Aptos"/>
              </a:defRPr>
            </a:pPr>
            <a:r>
              <a:t>KPI 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76088" y="176479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 b="1">
                <a:solidFill>
                  <a:srgbClr val="141E30"/>
                </a:solidFill>
                <a:latin typeface="Aptos Display"/>
              </a:defRPr>
            </a:pPr>
            <a:r>
              <a:t>₹139,399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76088" y="2304288"/>
            <a:ext cx="1737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7688"/>
                </a:solidFill>
                <a:latin typeface="Aptos"/>
              </a:defRPr>
            </a:pPr>
            <a:r>
              <a:t>Average Order Value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69480" y="1234440"/>
            <a:ext cx="2057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8E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69480" y="1234440"/>
            <a:ext cx="73152" cy="1234440"/>
          </a:xfrm>
          <a:prstGeom prst="rect">
            <a:avLst/>
          </a:prstGeom>
          <a:solidFill>
            <a:srgbClr val="D782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70648" y="1399032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97688"/>
                </a:solidFill>
                <a:latin typeface="Aptos"/>
              </a:defRPr>
            </a:pPr>
            <a:r>
              <a:t>KPI 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70648" y="176479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1E30"/>
                </a:solidFill>
                <a:latin typeface="Aptos Display"/>
              </a:defRPr>
            </a:pPr>
            <a:r>
              <a:t>5,435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70648" y="2304288"/>
            <a:ext cx="1737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7688"/>
                </a:solidFill>
                <a:latin typeface="Aptos"/>
              </a:defRPr>
            </a:pPr>
            <a:r>
              <a:t>Total Quantity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64040" y="1234440"/>
            <a:ext cx="2057400" cy="1234440"/>
          </a:xfrm>
          <a:prstGeom prst="roundRect">
            <a:avLst/>
          </a:prstGeom>
          <a:solidFill>
            <a:srgbClr val="FFFFFF"/>
          </a:solidFill>
          <a:ln>
            <a:solidFill>
              <a:srgbClr val="E8E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464040" y="1234440"/>
            <a:ext cx="73152" cy="1234440"/>
          </a:xfrm>
          <a:prstGeom prst="rect">
            <a:avLst/>
          </a:prstGeom>
          <a:solidFill>
            <a:srgbClr val="697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65208" y="1399032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97688"/>
                </a:solidFill>
                <a:latin typeface="Aptos"/>
              </a:defRPr>
            </a:pPr>
            <a:r>
              <a:t>KPI 05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65208" y="1764792"/>
            <a:ext cx="17373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1E30"/>
                </a:solidFill>
                <a:latin typeface="Aptos Display"/>
              </a:defRPr>
            </a:pPr>
            <a:r>
              <a:t>947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65208" y="2304288"/>
            <a:ext cx="173736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7688"/>
                </a:solidFill>
                <a:latin typeface="Aptos"/>
              </a:defRPr>
            </a:pPr>
            <a:r>
              <a:t>Unique Customers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3063240"/>
            <a:ext cx="557784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B37"/>
                </a:solidFill>
                <a:latin typeface="Aptos"/>
              </a:defRPr>
            </a:pPr>
            <a:r>
              <a:t>• Built my first interactive Power BI dashboard around five core KPIs.</a:t>
            </a:r>
          </a:p>
          <a:p>
            <a:pPr>
              <a:spcAft>
                <a:spcPts val="800"/>
              </a:spcAft>
              <a:defRPr sz="1600">
                <a:solidFill>
                  <a:srgbClr val="232B37"/>
                </a:solidFill>
                <a:latin typeface="Aptos"/>
              </a:defRPr>
            </a:pPr>
            <a:r>
              <a:t>• Created a customer segmentation deep-dive using percentile-based business rules.</a:t>
            </a:r>
          </a:p>
          <a:p>
            <a:pPr>
              <a:spcAft>
                <a:spcPts val="800"/>
              </a:spcAft>
              <a:defRPr sz="1600">
                <a:solidFill>
                  <a:srgbClr val="232B37"/>
                </a:solidFill>
                <a:latin typeface="Aptos"/>
              </a:defRPr>
            </a:pPr>
            <a:r>
              <a:t>• Segments: High Value, Medium Value and Low Value.</a:t>
            </a:r>
          </a:p>
          <a:p>
            <a:pPr>
              <a:spcAft>
                <a:spcPts val="800"/>
              </a:spcAft>
              <a:defRPr sz="1600">
                <a:solidFill>
                  <a:srgbClr val="232B37"/>
                </a:solidFill>
                <a:latin typeface="Aptos"/>
              </a:defRPr>
            </a:pPr>
            <a:r>
              <a:t>• Added slicers for City, Customer Segment, Product and Gender.</a:t>
            </a:r>
          </a:p>
          <a:p>
            <a:pPr>
              <a:spcAft>
                <a:spcPts val="800"/>
              </a:spcAft>
              <a:defRPr sz="1600">
                <a:solidFill>
                  <a:srgbClr val="232B37"/>
                </a:solidFill>
                <a:latin typeface="Aptos"/>
              </a:defRPr>
            </a:pPr>
            <a:r>
              <a:t>• Connected the dashboard to time-based sales analysis for interactive exploration.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812280" y="3063240"/>
            <a:ext cx="4663440" cy="251460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32320" y="3310128"/>
            <a:ext cx="402336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141E30"/>
                </a:solidFill>
                <a:latin typeface="Aptos Display"/>
              </a:defRPr>
            </a:pPr>
            <a:r>
              <a:t>Customer Segmentation</a:t>
            </a:r>
          </a:p>
        </p:txBody>
      </p:sp>
      <p:sp>
        <p:nvSpPr>
          <p:cNvPr id="34" name="Oval 33"/>
          <p:cNvSpPr/>
          <p:nvPr/>
        </p:nvSpPr>
        <p:spPr>
          <a:xfrm>
            <a:off x="7178040" y="3886200"/>
            <a:ext cx="164592" cy="164592"/>
          </a:xfrm>
          <a:prstGeom prst="ellipse">
            <a:avLst/>
          </a:prstGeom>
          <a:solidFill>
            <a:srgbClr val="2D6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452360" y="3831336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B37"/>
                </a:solidFill>
                <a:latin typeface="Aptos"/>
              </a:defRPr>
            </a:pPr>
            <a:r>
              <a:t>High Value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9800" y="3831336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41E30"/>
                </a:solidFill>
                <a:latin typeface="Aptos"/>
              </a:defRPr>
            </a:pPr>
            <a:r>
              <a:t>190</a:t>
            </a:r>
          </a:p>
        </p:txBody>
      </p:sp>
      <p:sp>
        <p:nvSpPr>
          <p:cNvPr id="37" name="Oval 36"/>
          <p:cNvSpPr/>
          <p:nvPr/>
        </p:nvSpPr>
        <p:spPr>
          <a:xfrm>
            <a:off x="7178040" y="4389120"/>
            <a:ext cx="164592" cy="164592"/>
          </a:xfrm>
          <a:prstGeom prst="ellipse">
            <a:avLst/>
          </a:prstGeom>
          <a:solidFill>
            <a:srgbClr val="289B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52360" y="4334256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B37"/>
                </a:solidFill>
                <a:latin typeface="Aptos"/>
              </a:defRPr>
            </a:pPr>
            <a:r>
              <a:t>Medium Value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29800" y="4334256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41E30"/>
                </a:solidFill>
                <a:latin typeface="Aptos"/>
              </a:defRPr>
            </a:pPr>
            <a:r>
              <a:t>567</a:t>
            </a:r>
          </a:p>
        </p:txBody>
      </p:sp>
      <p:sp>
        <p:nvSpPr>
          <p:cNvPr id="40" name="Oval 39"/>
          <p:cNvSpPr/>
          <p:nvPr/>
        </p:nvSpPr>
        <p:spPr>
          <a:xfrm>
            <a:off x="7178040" y="4892040"/>
            <a:ext cx="164592" cy="164592"/>
          </a:xfrm>
          <a:prstGeom prst="ellipse">
            <a:avLst/>
          </a:prstGeom>
          <a:solidFill>
            <a:srgbClr val="2D8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452360" y="4837176"/>
            <a:ext cx="16459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B37"/>
                </a:solidFill>
                <a:latin typeface="Aptos"/>
              </a:defRPr>
            </a:pPr>
            <a:r>
              <a:t>Low Value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29800" y="4837176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>
                <a:solidFill>
                  <a:srgbClr val="141E30"/>
                </a:solidFill>
                <a:latin typeface="Aptos"/>
              </a:defRPr>
            </a:pPr>
            <a:r>
              <a:t>190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94360" y="6528816"/>
            <a:ext cx="10241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7688"/>
                </a:solidFill>
                <a:latin typeface="Aptos"/>
              </a:defRPr>
            </a:pPr>
            <a:r>
              <a:t>ApexPlanet Data Analyst Internship Portfolio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881360" y="6501384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97688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144768"/>
            <a:ext cx="106984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7688"/>
                </a:solidFill>
                <a:latin typeface="Aptos"/>
              </a:defRPr>
            </a:pPr>
            <a:r>
              <a:t>KPI note: Total Orders = 1,000 recorded rows in the dashboard; 992 unique Order IDs are present in the cleaned file.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114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1E30"/>
                </a:solidFill>
                <a:latin typeface="Aptos Display"/>
              </a:defRPr>
            </a:pPr>
            <a:r>
              <a:t>Task 3 — From Dashboard to Customer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47548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97688"/>
                </a:solidFill>
                <a:latin typeface="Aptos"/>
              </a:defRPr>
            </a:pPr>
            <a:r>
              <a:t>TASK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649224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B37"/>
                </a:solidFill>
                <a:latin typeface="Aptos"/>
              </a:defRPr>
            </a:pPr>
            <a:r>
              <a:t>• High Value customers: sales at or above the 80th percentile (₹242,002.14).</a:t>
            </a:r>
          </a:p>
          <a:p>
            <a:pPr>
              <a:spcAft>
                <a:spcPts val="800"/>
              </a:spcAft>
              <a:defRPr sz="1700">
                <a:solidFill>
                  <a:srgbClr val="232B37"/>
                </a:solidFill>
                <a:latin typeface="Aptos"/>
              </a:defRPr>
            </a:pPr>
            <a:r>
              <a:t>• Low Value customers: sales at or below the 20th percentile (₹38,213.04).</a:t>
            </a:r>
          </a:p>
          <a:p>
            <a:pPr>
              <a:spcAft>
                <a:spcPts val="800"/>
              </a:spcAft>
              <a:defRPr sz="1700">
                <a:solidFill>
                  <a:srgbClr val="232B37"/>
                </a:solidFill>
                <a:latin typeface="Aptos"/>
              </a:defRPr>
            </a:pPr>
            <a:r>
              <a:t>• 190 High Value, 567 Medium Value and 190 Low Value customers.</a:t>
            </a:r>
          </a:p>
          <a:p>
            <a:pPr>
              <a:spcAft>
                <a:spcPts val="800"/>
              </a:spcAft>
              <a:defRPr sz="1700">
                <a:solidFill>
                  <a:srgbClr val="232B37"/>
                </a:solidFill>
                <a:latin typeface="Aptos"/>
              </a:defRPr>
            </a:pPr>
            <a:r>
              <a:t>• High-value customers contribute significantly to revenue, making retention a practical focus.</a:t>
            </a:r>
          </a:p>
          <a:p>
            <a:pPr>
              <a:spcAft>
                <a:spcPts val="800"/>
              </a:spcAft>
              <a:defRPr sz="1700">
                <a:solidFill>
                  <a:srgbClr val="232B37"/>
                </a:solidFill>
                <a:latin typeface="Aptos"/>
              </a:defRPr>
            </a:pPr>
            <a:r>
              <a:t>• Medium Value customers provide an opportunity for targeted offers and increased purchase frequency.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35240" y="1417320"/>
            <a:ext cx="3566160" cy="4206240"/>
          </a:xfrm>
          <a:prstGeom prst="roundRect">
            <a:avLst/>
          </a:prstGeom>
          <a:solidFill>
            <a:srgbClr val="14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1783080"/>
            <a:ext cx="2880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C3D7"/>
                </a:solidFill>
                <a:latin typeface="Aptos"/>
              </a:defRPr>
            </a:pPr>
            <a:r>
              <a:t>Business 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331720"/>
            <a:ext cx="2880360" cy="1234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8FAFC"/>
                </a:solidFill>
                <a:latin typeface="Aptos Display"/>
              </a:defRPr>
            </a:pPr>
            <a:r>
              <a:t>Do High Value customers generate significantly higher average order values than Low Value customers?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3977639"/>
            <a:ext cx="288036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D7E1EB"/>
                </a:solidFill>
                <a:latin typeface="Aptos"/>
              </a:defRPr>
            </a:pPr>
            <a:r>
              <a:t>Task 4 turns this question into a formal statistical test.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6528816"/>
            <a:ext cx="10241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7688"/>
                </a:solidFill>
                <a:latin typeface="Aptos"/>
              </a:defRPr>
            </a:pPr>
            <a:r>
              <a:t>ApexPlanet Data Analyst Internship Portfolio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501384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97688"/>
                </a:solidFill>
                <a:latin typeface="Aptos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114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1E30"/>
                </a:solidFill>
                <a:latin typeface="Aptos Display"/>
              </a:defRPr>
            </a:pPr>
            <a:r>
              <a:t>Task 4 — Statistical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47548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97688"/>
                </a:solidFill>
                <a:latin typeface="Aptos"/>
              </a:defRPr>
            </a:pPr>
            <a:r>
              <a:t>TASK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33375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8E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325880"/>
            <a:ext cx="73152" cy="1417320"/>
          </a:xfrm>
          <a:prstGeom prst="rect">
            <a:avLst/>
          </a:prstGeom>
          <a:solidFill>
            <a:srgbClr val="2D6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1490472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97688"/>
                </a:solidFill>
                <a:latin typeface="Aptos"/>
              </a:defRPr>
            </a:pPr>
            <a:r>
              <a:t>High Value customer AOV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1856231"/>
            <a:ext cx="3017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1E30"/>
                </a:solidFill>
                <a:latin typeface="Aptos Display"/>
              </a:defRPr>
            </a:pPr>
            <a:r>
              <a:t>₹314,483.88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017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7688"/>
                </a:solidFill>
                <a:latin typeface="Aptos"/>
              </a:defRPr>
            </a:pPr>
            <a:r>
              <a:t>Mean customer-level AOV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325880"/>
            <a:ext cx="33375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8E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434840" y="1325880"/>
            <a:ext cx="73152" cy="1417320"/>
          </a:xfrm>
          <a:prstGeom prst="rect">
            <a:avLst/>
          </a:prstGeom>
          <a:solidFill>
            <a:srgbClr val="289B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1490472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97688"/>
                </a:solidFill>
                <a:latin typeface="Aptos"/>
              </a:defRPr>
            </a:pPr>
            <a:r>
              <a:t>Low Value customer AOV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7" y="1856231"/>
            <a:ext cx="3017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41E30"/>
                </a:solidFill>
                <a:latin typeface="Aptos Display"/>
              </a:defRPr>
            </a:pPr>
            <a:r>
              <a:t>₹18,742.07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7" y="2395728"/>
            <a:ext cx="3017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7688"/>
                </a:solidFill>
                <a:latin typeface="Aptos"/>
              </a:defRPr>
            </a:pPr>
            <a:r>
              <a:t>Mean customer-level AOV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325880"/>
            <a:ext cx="3337560" cy="1417320"/>
          </a:xfrm>
          <a:prstGeom prst="roundRect">
            <a:avLst/>
          </a:prstGeom>
          <a:solidFill>
            <a:srgbClr val="FFFFFF"/>
          </a:solidFill>
          <a:ln>
            <a:solidFill>
              <a:srgbClr val="E8E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325880"/>
            <a:ext cx="73152" cy="1417320"/>
          </a:xfrm>
          <a:prstGeom prst="rect">
            <a:avLst/>
          </a:prstGeom>
          <a:solidFill>
            <a:srgbClr val="2D8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8" y="1490472"/>
            <a:ext cx="3017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697688"/>
                </a:solidFill>
                <a:latin typeface="Aptos"/>
              </a:defRPr>
            </a:pPr>
            <a:r>
              <a:t>Mean difference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8" y="1856231"/>
            <a:ext cx="3017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41E30"/>
                </a:solidFill>
                <a:latin typeface="Aptos Display"/>
              </a:defRPr>
            </a:pPr>
            <a:r>
              <a:t>₹295,741.81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8" y="2395728"/>
            <a:ext cx="30175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97688"/>
                </a:solidFill>
                <a:latin typeface="Aptos"/>
              </a:defRPr>
            </a:pPr>
            <a:r>
              <a:t>95% CI: ₹284,000.92–₹307,482.70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3246120"/>
            <a:ext cx="6400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232B37"/>
                </a:solidFill>
                <a:latin typeface="Aptos"/>
              </a:defRPr>
            </a:pPr>
            <a:r>
              <a:t>• Null hypothesis (H₀): no significant difference in average order value between High Value and Low Value customers.</a:t>
            </a:r>
          </a:p>
          <a:p>
            <a:pPr>
              <a:spcAft>
                <a:spcPts val="800"/>
              </a:spcAft>
              <a:defRPr sz="1500">
                <a:solidFill>
                  <a:srgbClr val="232B37"/>
                </a:solidFill>
                <a:latin typeface="Aptos"/>
              </a:defRPr>
            </a:pPr>
            <a:r>
              <a:t>• Alternative hypothesis (H₁): High Value customers have a higher average order value.</a:t>
            </a:r>
          </a:p>
          <a:p>
            <a:pPr>
              <a:spcAft>
                <a:spcPts val="800"/>
              </a:spcAft>
              <a:defRPr sz="1500">
                <a:solidFill>
                  <a:srgbClr val="232B37"/>
                </a:solidFill>
                <a:latin typeface="Aptos"/>
              </a:defRPr>
            </a:pPr>
            <a:r>
              <a:t>• Unit of analysis: customer. Customer-level AOV = customer total sales ÷ customer order count.</a:t>
            </a:r>
          </a:p>
          <a:p>
            <a:pPr>
              <a:spcAft>
                <a:spcPts val="800"/>
              </a:spcAft>
              <a:defRPr sz="1500">
                <a:solidFill>
                  <a:srgbClr val="232B37"/>
                </a:solidFill>
                <a:latin typeface="Aptos"/>
              </a:defRPr>
            </a:pPr>
            <a:r>
              <a:t>• Primary test: Welch independent two-sample t-test; α = 0.05.</a:t>
            </a:r>
          </a:p>
          <a:p>
            <a:pPr>
              <a:spcAft>
                <a:spcPts val="800"/>
              </a:spcAft>
              <a:defRPr sz="1500">
                <a:solidFill>
                  <a:srgbClr val="232B37"/>
                </a:solidFill>
                <a:latin typeface="Aptos"/>
              </a:defRPr>
            </a:pPr>
            <a:r>
              <a:t>• Robustness check: Mann–Whitney U test.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3246120"/>
            <a:ext cx="3931920" cy="256032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09560" y="3611880"/>
            <a:ext cx="32004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500" b="1">
                <a:solidFill>
                  <a:srgbClr val="141E30"/>
                </a:solidFill>
                <a:latin typeface="Aptos Display"/>
              </a:defRPr>
            </a:pPr>
            <a:r>
              <a:t>Welch t = 49.68</a:t>
            </a:r>
            <a:br/>
            <a:r>
              <a:t>p = 5.706 × 10⁻¹¹³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09560" y="4983480"/>
            <a:ext cx="3200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D875F"/>
                </a:solidFill>
                <a:latin typeface="Aptos"/>
              </a:defRPr>
            </a:pPr>
            <a:r>
              <a:t>Cohen’s d = 5.10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4360" y="6528816"/>
            <a:ext cx="10241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7688"/>
                </a:solidFill>
                <a:latin typeface="Aptos"/>
              </a:defRPr>
            </a:pPr>
            <a:r>
              <a:t>ApexPlanet Data Analyst Internship Portfolio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501384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97688"/>
                </a:solidFill>
                <a:latin typeface="Aptos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114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1E30"/>
                </a:solidFill>
                <a:latin typeface="Aptos Display"/>
              </a:defRPr>
            </a:pPr>
            <a:r>
              <a:t>What the Evidence 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47548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97688"/>
                </a:solidFill>
                <a:latin typeface="Aptos"/>
              </a:defRPr>
            </a:pPr>
            <a:r>
              <a:t>TASK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246120" cy="4389120"/>
          </a:xfrm>
          <a:prstGeom prst="roundRect">
            <a:avLst/>
          </a:prstGeom>
          <a:solidFill>
            <a:srgbClr val="14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173736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AAC3D7"/>
                </a:solidFill>
                <a:latin typeface="Aptos"/>
              </a:defRPr>
            </a:pPr>
            <a:r>
              <a:t>DECISION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31720"/>
            <a:ext cx="25603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8FAFC"/>
                </a:solidFill>
                <a:latin typeface="Aptos Display"/>
              </a:defRPr>
            </a:pPr>
            <a:r>
              <a:t>Reject H₀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337560"/>
            <a:ext cx="256032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DCE6F0"/>
                </a:solidFill>
                <a:latin typeface="Aptos"/>
              </a:defRPr>
            </a:pPr>
            <a:r>
              <a:t>The evidence strongly supports a difference in customer-level AOV between the High Value and Low Value groups.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141732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B37"/>
                </a:solidFill>
                <a:latin typeface="Aptos"/>
              </a:defRPr>
            </a:pPr>
            <a:r>
              <a:t>• High Value customer-level AOV is about 16.8× the Low Value AOV.</a:t>
            </a:r>
          </a:p>
          <a:p>
            <a:pPr>
              <a:spcAft>
                <a:spcPts val="800"/>
              </a:spcAft>
              <a:defRPr sz="1700">
                <a:solidFill>
                  <a:srgbClr val="232B37"/>
                </a:solidFill>
                <a:latin typeface="Aptos"/>
              </a:defRPr>
            </a:pPr>
            <a:r>
              <a:t>• The full 95% confidence interval for the mean difference is above zero.</a:t>
            </a:r>
          </a:p>
          <a:p>
            <a:pPr>
              <a:spcAft>
                <a:spcPts val="800"/>
              </a:spcAft>
              <a:defRPr sz="1700">
                <a:solidFill>
                  <a:srgbClr val="232B37"/>
                </a:solidFill>
                <a:latin typeface="Aptos"/>
              </a:defRPr>
            </a:pPr>
            <a:r>
              <a:t>• The very small p-value indicates extremely strong statistical evidence against H₀.</a:t>
            </a:r>
          </a:p>
          <a:p>
            <a:pPr>
              <a:spcAft>
                <a:spcPts val="800"/>
              </a:spcAft>
              <a:defRPr sz="1700">
                <a:solidFill>
                  <a:srgbClr val="232B37"/>
                </a:solidFill>
                <a:latin typeface="Aptos"/>
              </a:defRPr>
            </a:pPr>
            <a:r>
              <a:t>• Mann–Whitney U also found an extremely significant difference (p = 8.963 × 10⁻⁶⁴).</a:t>
            </a:r>
          </a:p>
          <a:p>
            <a:pPr>
              <a:spcAft>
                <a:spcPts val="800"/>
              </a:spcAft>
              <a:defRPr sz="1700">
                <a:solidFill>
                  <a:srgbClr val="232B37"/>
                </a:solidFill>
                <a:latin typeface="Aptos"/>
              </a:defRPr>
            </a:pPr>
            <a:r>
              <a:t>• Statistical evidence supports prioritising retention and targeted customer development; it does not establish causation.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6528816"/>
            <a:ext cx="10241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7688"/>
                </a:solidFill>
                <a:latin typeface="Aptos"/>
              </a:defRPr>
            </a:pPr>
            <a:r>
              <a:t>ApexPlanet Data Analyst Internship Portfolio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501384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97688"/>
                </a:solidFill>
                <a:latin typeface="Aptos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114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1E30"/>
                </a:solidFill>
                <a:latin typeface="Aptos Display"/>
              </a:defRPr>
            </a:pPr>
            <a:r>
              <a:t>Business Actions Across the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47548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97688"/>
                </a:solidFill>
                <a:latin typeface="Aptos"/>
              </a:defRPr>
            </a:pPr>
            <a:r>
              <a:t>SYNTHESIS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507492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8E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87552" y="1709928"/>
            <a:ext cx="548640" cy="548640"/>
          </a:xfrm>
          <a:prstGeom prst="ellipse">
            <a:avLst/>
          </a:prstGeom>
          <a:solidFill>
            <a:srgbClr val="2D6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181051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8FAFC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664208"/>
            <a:ext cx="374903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41E30"/>
                </a:solidFill>
                <a:latin typeface="Aptos Display"/>
              </a:defRPr>
            </a:pPr>
            <a:r>
              <a:t>Protect High Value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167128"/>
            <a:ext cx="37490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B37"/>
                </a:solidFill>
                <a:latin typeface="Aptos"/>
              </a:defRPr>
            </a:pPr>
            <a:r>
              <a:t>Prioritise retention and relationship-building for important revenue sources.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59" y="1417320"/>
            <a:ext cx="507492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8E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565392" y="1709928"/>
            <a:ext cx="548640" cy="548640"/>
          </a:xfrm>
          <a:prstGeom prst="ellipse">
            <a:avLst/>
          </a:prstGeom>
          <a:solidFill>
            <a:srgbClr val="289B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65392" y="1810512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8FAFC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69479" y="1664208"/>
            <a:ext cx="374903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41E30"/>
                </a:solidFill>
                <a:latin typeface="Aptos Display"/>
              </a:defRPr>
            </a:pPr>
            <a:r>
              <a:t>Develop Medium Value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79" y="2167128"/>
            <a:ext cx="37490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B37"/>
                </a:solidFill>
                <a:latin typeface="Aptos"/>
              </a:defRPr>
            </a:pPr>
            <a:r>
              <a:t>Use personalised offers and recommendations to increase frequency or order value.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657600"/>
            <a:ext cx="507492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8E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87552" y="3950208"/>
            <a:ext cx="548640" cy="548640"/>
          </a:xfrm>
          <a:prstGeom prst="ellipse">
            <a:avLst/>
          </a:prstGeom>
          <a:solidFill>
            <a:srgbClr val="2D87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4050791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8FAFC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904487"/>
            <a:ext cx="374903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41E30"/>
                </a:solidFill>
                <a:latin typeface="Aptos Display"/>
              </a:defRPr>
            </a:pPr>
            <a:r>
              <a:t>Activate Selectively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407408"/>
            <a:ext cx="37490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B37"/>
                </a:solidFill>
                <a:latin typeface="Aptos"/>
              </a:defRPr>
            </a:pPr>
            <a:r>
              <a:t>Evaluate Low Value customers for conversion potential without inefficient broad spending.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3657600"/>
            <a:ext cx="5074920" cy="1783080"/>
          </a:xfrm>
          <a:prstGeom prst="roundRect">
            <a:avLst/>
          </a:prstGeom>
          <a:solidFill>
            <a:srgbClr val="FFFFFF"/>
          </a:solidFill>
          <a:ln>
            <a:solidFill>
              <a:srgbClr val="E8EDF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565392" y="3950208"/>
            <a:ext cx="548640" cy="548640"/>
          </a:xfrm>
          <a:prstGeom prst="ellipse">
            <a:avLst/>
          </a:prstGeom>
          <a:solidFill>
            <a:srgbClr val="D782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65392" y="4050791"/>
            <a:ext cx="5486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8FAFC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69479" y="3904487"/>
            <a:ext cx="3749039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41E30"/>
                </a:solidFill>
                <a:latin typeface="Aptos Display"/>
              </a:defRPr>
            </a:pPr>
            <a:r>
              <a:t>Monitor Performance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79" y="4407408"/>
            <a:ext cx="374903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32B37"/>
                </a:solidFill>
                <a:latin typeface="Aptos"/>
              </a:defRPr>
            </a:pPr>
            <a:r>
              <a:t>Use Power BI to track segment, product, city, gender and time-based performance.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897880"/>
            <a:ext cx="10789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i="1">
                <a:solidFill>
                  <a:srgbClr val="697688"/>
                </a:solidFill>
                <a:latin typeface="Aptos"/>
              </a:defRPr>
            </a:pPr>
            <a:r>
              <a:t>Cross-cutting insight: the value of the internship was connecting analysis to decisions.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6528816"/>
            <a:ext cx="10241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7688"/>
                </a:solidFill>
                <a:latin typeface="Aptos"/>
              </a:defRPr>
            </a:pPr>
            <a:r>
              <a:t>ApexPlanet Data Analyst Internship Portfolio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881360" y="6501384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97688"/>
                </a:solidFill>
                <a:latin typeface="Aptos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114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1E30"/>
                </a:solidFill>
                <a:latin typeface="Aptos Display"/>
              </a:defRPr>
            </a:pPr>
            <a:r>
              <a:t>Skills Built Across Tasks 1–5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47548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97688"/>
                </a:solidFill>
                <a:latin typeface="Aptos"/>
              </a:defRPr>
            </a:pPr>
            <a:r>
              <a:t>PORTFOLIO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234440"/>
            <a:ext cx="5074920" cy="96012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80744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41E30"/>
                </a:solidFill>
                <a:latin typeface="Aptos Display"/>
              </a:defRPr>
            </a:pPr>
            <a:r>
              <a:t>Excel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23160" y="1362456"/>
            <a:ext cx="3017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B37"/>
                </a:solidFill>
                <a:latin typeface="Aptos"/>
              </a:defRPr>
            </a:pPr>
            <a:r>
              <a:t>Cleaning, EDA, formulas, static dashboarding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234440"/>
            <a:ext cx="5074920" cy="96012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380744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41E30"/>
                </a:solidFill>
                <a:latin typeface="Aptos Display"/>
              </a:defRPr>
            </a:pPr>
            <a:r>
              <a:t>MySQL / 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1362456"/>
            <a:ext cx="3017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B37"/>
                </a:solidFill>
                <a:latin typeface="Aptos"/>
              </a:defRPr>
            </a:pPr>
            <a:r>
              <a:t>Business questions, aggregation, filtering, analysis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468880"/>
            <a:ext cx="5074920" cy="96012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615184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41E30"/>
                </a:solidFill>
                <a:latin typeface="Aptos Display"/>
              </a:defRPr>
            </a:pPr>
            <a:r>
              <a:t>Power BI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2596896"/>
            <a:ext cx="3017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B37"/>
                </a:solidFill>
                <a:latin typeface="Aptos"/>
              </a:defRPr>
            </a:pPr>
            <a:r>
              <a:t>Interactive dashboarding, KPIs, slicers, segmentation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468880"/>
            <a:ext cx="5074920" cy="96012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615184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41E30"/>
                </a:solidFill>
                <a:latin typeface="Aptos Display"/>
              </a:defRPr>
            </a:pPr>
            <a:r>
              <a:t>DAX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596896"/>
            <a:ext cx="3017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B37"/>
                </a:solidFill>
                <a:latin typeface="Aptos"/>
              </a:defRPr>
            </a:pPr>
            <a:r>
              <a:t>Measures and percentile-based customer segmentation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03320"/>
            <a:ext cx="5074920" cy="96012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3849624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41E30"/>
                </a:solidFill>
                <a:latin typeface="Aptos Display"/>
              </a:defRPr>
            </a:pPr>
            <a:r>
              <a:t>Statistics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23160" y="3831336"/>
            <a:ext cx="3017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B37"/>
                </a:solidFill>
                <a:latin typeface="Aptos"/>
              </a:defRPr>
            </a:pPr>
            <a:r>
              <a:t>Welch t-test, confidence intervals, effect size, robustness check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3703320"/>
            <a:ext cx="5074920" cy="96012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849624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41E30"/>
                </a:solidFill>
                <a:latin typeface="Aptos Display"/>
              </a:defRPr>
            </a:pPr>
            <a:r>
              <a:t>Data Visualization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3831336"/>
            <a:ext cx="3017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B37"/>
                </a:solidFill>
                <a:latin typeface="Aptos"/>
              </a:defRPr>
            </a:pPr>
            <a:r>
              <a:t>Charts and concise business communication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4937760"/>
            <a:ext cx="5074920" cy="96012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5084064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41E30"/>
                </a:solidFill>
                <a:latin typeface="Aptos Display"/>
              </a:defRPr>
            </a:pPr>
            <a:r>
              <a:t>GitHub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23160" y="5065776"/>
            <a:ext cx="3017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B37"/>
                </a:solidFill>
                <a:latin typeface="Aptos"/>
              </a:defRPr>
            </a:pPr>
            <a:r>
              <a:t>Project repositories, documentation, portfolio integration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4937760"/>
            <a:ext cx="5074920" cy="96012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92240" y="5084064"/>
            <a:ext cx="1508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41E30"/>
                </a:solidFill>
                <a:latin typeface="Aptos Display"/>
              </a:defRPr>
            </a:pPr>
            <a:r>
              <a:t>Business Storytelling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01000" y="5065776"/>
            <a:ext cx="30175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232B37"/>
                </a:solidFill>
                <a:latin typeface="Aptos"/>
              </a:defRPr>
            </a:pPr>
            <a:r>
              <a:t>Turning evidence into recommendations and action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6528816"/>
            <a:ext cx="10241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7688"/>
                </a:solidFill>
                <a:latin typeface="Aptos"/>
              </a:defRPr>
            </a:pPr>
            <a:r>
              <a:t>ApexPlanet Data Analyst Internship Portfolio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501384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97688"/>
                </a:solidFill>
                <a:latin typeface="Aptos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114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1E30"/>
                </a:solidFill>
                <a:latin typeface="Aptos Display"/>
              </a:defRPr>
            </a:pPr>
            <a:r>
              <a:t>Portfolio Integration — Task 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47548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97688"/>
                </a:solidFill>
                <a:latin typeface="Aptos"/>
              </a:defRPr>
            </a:pPr>
            <a:r>
              <a:t>TASK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325880"/>
            <a:ext cx="658368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32B37"/>
                </a:solidFill>
                <a:latin typeface="Aptos"/>
              </a:defRPr>
            </a:pPr>
            <a:r>
              <a:t>• Created a master GitHub portfolio that connects the four project repositories.</a:t>
            </a:r>
          </a:p>
          <a:p>
            <a:pPr>
              <a:spcAft>
                <a:spcPts val="800"/>
              </a:spcAft>
              <a:defRPr sz="1600">
                <a:solidFill>
                  <a:srgbClr val="232B37"/>
                </a:solidFill>
                <a:latin typeface="Aptos"/>
              </a:defRPr>
            </a:pPr>
            <a:r>
              <a:t>• Added a polished README covering the internship journey, project links, skills and learning outcomes.</a:t>
            </a:r>
          </a:p>
          <a:p>
            <a:pPr>
              <a:spcAft>
                <a:spcPts val="800"/>
              </a:spcAft>
              <a:defRPr sz="1600">
                <a:solidFill>
                  <a:srgbClr val="232B37"/>
                </a:solidFill>
                <a:latin typeface="Aptos"/>
              </a:defRPr>
            </a:pPr>
            <a:r>
              <a:t>• Included this final portfolio presentation as the capstone deck.</a:t>
            </a:r>
          </a:p>
          <a:p>
            <a:pPr>
              <a:spcAft>
                <a:spcPts val="800"/>
              </a:spcAft>
              <a:defRPr sz="1600">
                <a:solidFill>
                  <a:srgbClr val="232B37"/>
                </a:solidFill>
                <a:latin typeface="Aptos"/>
              </a:defRPr>
            </a:pPr>
            <a:r>
              <a:t>• Reviewed the project story for consistency: data preparation → analysis → dashboard → statistical validation → business action.</a:t>
            </a:r>
          </a:p>
          <a:p>
            <a:pPr>
              <a:spcAft>
                <a:spcPts val="800"/>
              </a:spcAft>
              <a:defRPr sz="1600">
                <a:solidFill>
                  <a:srgbClr val="232B37"/>
                </a:solidFill>
                <a:latin typeface="Aptos"/>
              </a:defRPr>
            </a:pPr>
            <a:r>
              <a:t>• Prepared a 3–5 minute LinkedIn portfolio walkthrough focused on the journey and key learnings.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26679" y="1371600"/>
            <a:ext cx="3429000" cy="4114800"/>
          </a:xfrm>
          <a:prstGeom prst="roundRect">
            <a:avLst/>
          </a:prstGeom>
          <a:solidFill>
            <a:srgbClr val="14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0" y="1783080"/>
            <a:ext cx="27432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C3D7"/>
                </a:solidFill>
                <a:latin typeface="Aptos"/>
              </a:defRPr>
            </a:pPr>
            <a:r>
              <a:t>MASTER PORTFOLIO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2331720"/>
            <a:ext cx="2743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Aptos Display"/>
              </a:defRPr>
            </a:pPr>
            <a:r>
              <a:t>Avinash-</a:t>
            </a:r>
            <a:br/>
            <a:r>
              <a:t>DataAnalyst-</a:t>
            </a:r>
            <a:br/>
            <a:r>
              <a:t>Internship-Portfolio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0" y="4160520"/>
            <a:ext cx="27432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D7E1EB"/>
                </a:solidFill>
                <a:latin typeface="Aptos"/>
              </a:defRPr>
            </a:pPr>
            <a:r>
              <a:t>One place for the complete analytics journey.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6528816"/>
            <a:ext cx="10241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7688"/>
                </a:solidFill>
                <a:latin typeface="Aptos"/>
              </a:defRPr>
            </a:pPr>
            <a:r>
              <a:t>ApexPlanet Data Analyst Internship Portfolio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81360" y="6501384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97688"/>
                </a:solidFill>
                <a:latin typeface="Aptos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D64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411480"/>
            <a:ext cx="1078992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41E30"/>
                </a:solidFill>
                <a:latin typeface="Aptos Display"/>
              </a:defRPr>
            </a:pPr>
            <a:r>
              <a:t>Final Reflection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784080" y="475488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97688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41E30"/>
                </a:solidFill>
                <a:latin typeface="Aptos Display"/>
              </a:defRPr>
            </a:pPr>
            <a:r>
              <a:t>The biggest learning was connecting technical work to a business question.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6766560" cy="2834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32B37"/>
                </a:solidFill>
                <a:latin typeface="Aptos"/>
              </a:defRPr>
            </a:pPr>
            <a:r>
              <a:t>• I learned to move from raw data preparation to analysis-ready data.</a:t>
            </a:r>
          </a:p>
          <a:p>
            <a:pPr>
              <a:spcAft>
                <a:spcPts val="800"/>
              </a:spcAft>
              <a:defRPr sz="1700">
                <a:solidFill>
                  <a:srgbClr val="232B37"/>
                </a:solidFill>
                <a:latin typeface="Aptos"/>
              </a:defRPr>
            </a:pPr>
            <a:r>
              <a:t>• I learned to combine Excel, SQL and Power BI for progressively deeper analysis.</a:t>
            </a:r>
          </a:p>
          <a:p>
            <a:pPr>
              <a:spcAft>
                <a:spcPts val="800"/>
              </a:spcAft>
              <a:defRPr sz="1700">
                <a:solidFill>
                  <a:srgbClr val="232B37"/>
                </a:solidFill>
                <a:latin typeface="Aptos"/>
              </a:defRPr>
            </a:pPr>
            <a:r>
              <a:t>• I learned to frame a measurable hypothesis, test it statistically and communicate uncertainty.</a:t>
            </a:r>
          </a:p>
          <a:p>
            <a:pPr>
              <a:spcAft>
                <a:spcPts val="800"/>
              </a:spcAft>
              <a:defRPr sz="1700">
                <a:solidFill>
                  <a:srgbClr val="232B37"/>
                </a:solidFill>
                <a:latin typeface="Aptos"/>
              </a:defRPr>
            </a:pPr>
            <a:r>
              <a:t>• I learned that a strong analyst does not stop at a result — the result must lead to a clear business action.</a:t>
            </a:r>
          </a:p>
          <a:p>
            <a:pPr>
              <a:spcAft>
                <a:spcPts val="800"/>
              </a:spcAft>
              <a:defRPr sz="1700">
                <a:solidFill>
                  <a:srgbClr val="232B37"/>
                </a:solidFill>
                <a:latin typeface="Aptos"/>
              </a:defRPr>
            </a:pPr>
            <a:r>
              <a:t>• Task 5 brings the work together into a professional, reusable portfolio.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01000" y="2788920"/>
            <a:ext cx="3063240" cy="2240280"/>
          </a:xfrm>
          <a:prstGeom prst="round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3200400"/>
            <a:ext cx="251460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D64BE"/>
                </a:solidFill>
                <a:latin typeface="Aptos Display"/>
              </a:defRPr>
            </a:pPr>
            <a:r>
              <a:t>RAW DATA</a:t>
            </a:r>
            <a:br/>
            <a:r>
              <a:t>→</a:t>
            </a:r>
            <a:br/>
            <a:r>
              <a:t>INSIGHT</a:t>
            </a:r>
            <a:br/>
            <a:r>
              <a:t>→</a:t>
            </a:r>
            <a:br/>
            <a:r>
              <a:t>EVIDENCE</a:t>
            </a:r>
            <a:br/>
            <a:r>
              <a:t>→</a:t>
            </a:r>
            <a:br/>
            <a:r>
              <a:t>ACTION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6473952"/>
            <a:ext cx="10972800" cy="9144"/>
          </a:xfrm>
          <a:prstGeom prst="rect">
            <a:avLst/>
          </a:prstGeom>
          <a:solidFill>
            <a:srgbClr val="E8E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6528816"/>
            <a:ext cx="102412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697688"/>
                </a:solidFill>
                <a:latin typeface="Aptos"/>
              </a:defRPr>
            </a:pPr>
            <a:r>
              <a:t>ApexPlanet Data Analyst Internship Portfolio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501384"/>
            <a:ext cx="6400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697688"/>
                </a:solidFill>
                <a:latin typeface="Aptos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097280"/>
            <a:ext cx="10515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8FAFC"/>
                </a:solidFill>
                <a:latin typeface="Aptos Display"/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98755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>
                <a:solidFill>
                  <a:srgbClr val="CDDAE8"/>
                </a:solidFill>
                <a:latin typeface="Aptos"/>
              </a:defRPr>
            </a:pPr>
            <a:r>
              <a:t>ApexPlanet Data Analyst Internship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63240"/>
            <a:ext cx="98755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A0BED2"/>
                </a:solidFill>
                <a:latin typeface="Aptos"/>
              </a:defRPr>
            </a:pPr>
            <a:r>
              <a:t>Avinash Narayan  |  Tasks 1–5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2578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AFBECD"/>
                </a:solidFill>
                <a:latin typeface="Aptos"/>
              </a:defRPr>
            </a:pPr>
            <a:r>
              <a:t>github.com/TechyLearner/Avinash-DataAnalyst-Internship-Portfolio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